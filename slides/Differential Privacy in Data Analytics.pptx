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Inter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0bc5ecfc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0bc5ecfc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0bc5ecfc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0bc5ecfc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0bc5ecfc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0bc5ecfc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0bc5ecfc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0bc5ecfc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0bc5ecfc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0bc5ecfc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0bc5ecfca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0bc5ecfc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0bc5ecfca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0bc5ecfca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0bc5ecfca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0bc5ecfca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0bc5ecfca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0bc5ecfca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0bc5ecfca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d0bc5ecfca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1684cac7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1684cac7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1684cac7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d1684cac7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257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757363" y="3575447"/>
            <a:ext cx="1628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385763" y="1198364"/>
            <a:ext cx="43719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771525" y="2185988"/>
            <a:ext cx="36006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257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1757363" y="3575447"/>
            <a:ext cx="1628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57175" y="154484"/>
            <a:ext cx="46293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57175" y="900113"/>
            <a:ext cx="46293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257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757363" y="3575447"/>
            <a:ext cx="1628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06301" y="2478881"/>
            <a:ext cx="43719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1" sz="2300" cap="none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06301" y="1635026"/>
            <a:ext cx="43719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257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1757363" y="3575447"/>
            <a:ext cx="1628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257175" y="154484"/>
            <a:ext cx="46293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257175" y="900113"/>
            <a:ext cx="22716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2614613" y="900113"/>
            <a:ext cx="22716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257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1757363" y="3575447"/>
            <a:ext cx="1628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257175" y="154484"/>
            <a:ext cx="46293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257175" y="863501"/>
            <a:ext cx="22725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257175" y="1223367"/>
            <a:ext cx="2272500" cy="22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2612827" y="863501"/>
            <a:ext cx="2273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2612827" y="1223367"/>
            <a:ext cx="2273400" cy="22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257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1757363" y="3575447"/>
            <a:ext cx="1628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257175" y="154484"/>
            <a:ext cx="46293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257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757363" y="3575447"/>
            <a:ext cx="1628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257175" y="153591"/>
            <a:ext cx="16923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2010966" y="153591"/>
            <a:ext cx="2875500" cy="3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257175" y="807244"/>
            <a:ext cx="1692300" cy="2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257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1757363" y="3575447"/>
            <a:ext cx="1628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008162" y="2700338"/>
            <a:ext cx="30861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008162" y="344686"/>
            <a:ext cx="3086100" cy="2314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008162" y="3019128"/>
            <a:ext cx="3086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257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1757363" y="3575447"/>
            <a:ext cx="1628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257175" y="154484"/>
            <a:ext cx="46293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298925" y="-141487"/>
            <a:ext cx="2545800" cy="46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257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1757363" y="3575447"/>
            <a:ext cx="1628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2661825" y="1221584"/>
            <a:ext cx="32916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04463" y="107234"/>
            <a:ext cx="32916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257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1757363" y="3575447"/>
            <a:ext cx="1628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175" y="154484"/>
            <a:ext cx="46293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175" y="900113"/>
            <a:ext cx="46293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57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757363" y="3575447"/>
            <a:ext cx="1628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3686175" y="3575447"/>
            <a:ext cx="1200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570575" y="1521550"/>
            <a:ext cx="4633800" cy="13563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rmAutofit fontScale="90000"/>
          </a:bodyPr>
          <a:lstStyle/>
          <a:p>
            <a:pPr indent="0" lvl="0" marL="0" rtl="0" algn="l">
              <a:lnSpc>
                <a:spcPct val="12146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99969"/>
              <a:buFont typeface="Inter"/>
              <a:buNone/>
            </a:pPr>
            <a:r>
              <a:rPr b="1" lang="en" sz="3293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Differential Privacy in Data Analytics</a:t>
            </a:r>
            <a:endParaRPr sz="3293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705350" y="3128667"/>
            <a:ext cx="3600600" cy="385800"/>
          </a:xfrm>
          <a:prstGeom prst="rect">
            <a:avLst/>
          </a:prstGeom>
        </p:spPr>
        <p:txBody>
          <a:bodyPr anchorCtr="0" anchor="t" bIns="25700" lIns="51425" spcFirstLastPara="1" rIns="51425" wrap="square" tIns="25700">
            <a:norm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2">
                <a:solidFill>
                  <a:srgbClr val="457B9D"/>
                </a:solidFill>
                <a:latin typeface="Inter"/>
                <a:ea typeface="Inter"/>
                <a:cs typeface="Inter"/>
                <a:sym typeface="Inter"/>
              </a:rPr>
              <a:t>CS4413 Winter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05350" y="3473100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Afif Saba - 3682801</a:t>
            </a:r>
            <a:endParaRPr/>
          </a:p>
        </p:txBody>
      </p:sp>
      <p:cxnSp>
        <p:nvCxnSpPr>
          <p:cNvPr id="87" name="Google Shape;87;p13"/>
          <p:cNvCxnSpPr/>
          <p:nvPr/>
        </p:nvCxnSpPr>
        <p:spPr>
          <a:xfrm flipH="1" rot="10800000">
            <a:off x="570575" y="2918925"/>
            <a:ext cx="7922100" cy="8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276450" y="452200"/>
            <a:ext cx="7954200" cy="4326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rm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2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Why Differential Privacy Matters</a:t>
            </a:r>
            <a:endParaRPr/>
          </a:p>
        </p:txBody>
      </p:sp>
      <p:cxnSp>
        <p:nvCxnSpPr>
          <p:cNvPr id="93" name="Google Shape;93;p14"/>
          <p:cNvCxnSpPr/>
          <p:nvPr/>
        </p:nvCxnSpPr>
        <p:spPr>
          <a:xfrm flipH="1" rot="10800000">
            <a:off x="276450" y="876400"/>
            <a:ext cx="8591100" cy="8400"/>
          </a:xfrm>
          <a:prstGeom prst="straightConnector1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4"/>
          <p:cNvSpPr/>
          <p:nvPr/>
        </p:nvSpPr>
        <p:spPr>
          <a:xfrm>
            <a:off x="335622" y="1378734"/>
            <a:ext cx="36552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93"/>
              <a:buFont typeface="Inter"/>
              <a:buNone/>
            </a:pPr>
            <a:r>
              <a:rPr b="1" lang="en" sz="1193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Why do we need </a:t>
            </a:r>
            <a:r>
              <a:rPr b="1" lang="en" sz="1193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Differential</a:t>
            </a:r>
            <a:r>
              <a:rPr b="1" lang="en" sz="1193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 Privacy?</a:t>
            </a:r>
            <a:endParaRPr b="0" i="0" sz="11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335625" y="1669850"/>
            <a:ext cx="365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5275" lvl="0" marL="45720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Char char="●"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Organizations want to publish useful statistics</a:t>
            </a:r>
            <a:endParaRPr sz="1050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5275" lvl="0" marL="45720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Char char="●"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“Anonymous” releases can still leak information</a:t>
            </a:r>
            <a:endParaRPr sz="1050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5275" lvl="0" marL="45720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Char char="●"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Differential privacy limits single-record influence</a:t>
            </a:r>
            <a:endParaRPr sz="1050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369010" y="3508909"/>
            <a:ext cx="36552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93"/>
              <a:buFont typeface="Inter"/>
              <a:buNone/>
            </a:pPr>
            <a:r>
              <a:rPr b="1" i="0" lang="en" sz="1193" u="none" cap="none" strike="noStrike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Why Simple Anonymization Fails</a:t>
            </a:r>
            <a:endParaRPr b="0" i="0" sz="11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335625" y="3791100"/>
            <a:ext cx="365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84"/>
              <a:buFont typeface="Merriweather"/>
              <a:buNone/>
            </a:pPr>
            <a:r>
              <a:rPr b="1" i="0" lang="en" sz="784" u="none" cap="none" strike="noStrike">
                <a:solidFill>
                  <a:srgbClr val="E63946"/>
                </a:solidFill>
                <a:latin typeface="Merriweather"/>
                <a:ea typeface="Merriweather"/>
                <a:cs typeface="Merriweather"/>
                <a:sym typeface="Merriweather"/>
              </a:rPr>
              <a:t>Netflix Prize</a:t>
            </a:r>
            <a:r>
              <a:rPr b="1" i="0" lang="en" sz="784" u="none" cap="none" strike="noStrike">
                <a:solidFill>
                  <a:srgbClr val="E63946"/>
                </a:solidFill>
                <a:latin typeface="Merriweather"/>
                <a:ea typeface="Merriweather"/>
                <a:cs typeface="Merriweather"/>
                <a:sym typeface="Merriweather"/>
              </a:rPr>
              <a:t> dataset</a:t>
            </a:r>
            <a:r>
              <a:rPr b="1" i="0" lang="en" sz="784" u="none" cap="none" strike="noStrike">
                <a:solidFill>
                  <a:srgbClr val="E63946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r>
              <a:rPr b="0" i="0" lang="en" sz="834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 users re-identified from movie ratings alone</a:t>
            </a:r>
            <a:endParaRPr b="0" i="0" sz="834" u="none" cap="none" strike="noStrike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84"/>
              <a:buFont typeface="Merriweather"/>
              <a:buNone/>
            </a:pPr>
            <a:r>
              <a:rPr b="1" lang="en" sz="784">
                <a:solidFill>
                  <a:srgbClr val="E63946"/>
                </a:solidFill>
                <a:latin typeface="Merriweather"/>
                <a:ea typeface="Merriweather"/>
                <a:cs typeface="Merriweather"/>
                <a:sym typeface="Merriweather"/>
              </a:rPr>
              <a:t>AOL search logs:</a:t>
            </a:r>
            <a:r>
              <a:rPr lang="en" sz="834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 individuals identified from "anonymous" queries</a:t>
            </a:r>
            <a:endParaRPr sz="78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84"/>
              <a:buFont typeface="Merriweather"/>
              <a:buNone/>
            </a:pPr>
            <a:r>
              <a:t/>
            </a:r>
            <a:endParaRPr sz="834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369010" y="3882440"/>
            <a:ext cx="46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84"/>
              <a:buFont typeface="Inter"/>
              <a:buNone/>
            </a:pPr>
            <a:r>
              <a:t/>
            </a:r>
            <a:endParaRPr b="0" i="0" sz="7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657422" y="1472047"/>
            <a:ext cx="36552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93"/>
              <a:buFont typeface="Inter"/>
              <a:buNone/>
            </a:pPr>
            <a:r>
              <a:rPr b="1" i="0" lang="en" sz="1193" u="none" cap="none" strike="noStrike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Key Insight</a:t>
            </a:r>
            <a:endParaRPr b="0" i="0" sz="11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4657425" y="1750661"/>
            <a:ext cx="57300" cy="10314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4871785" y="1837428"/>
            <a:ext cx="32265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16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Inter"/>
              <a:buNone/>
            </a:pPr>
            <a:r>
              <a:rPr b="1" lang="en" sz="1397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“How can we release useful statistics without leaking personal information?”</a:t>
            </a:r>
            <a:endParaRPr b="0" i="0" sz="139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714717" y="3376236"/>
            <a:ext cx="36552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93"/>
              <a:buFont typeface="Inter"/>
              <a:buNone/>
            </a:pPr>
            <a:r>
              <a:rPr b="1" i="0" lang="en" sz="1193" u="none" cap="none" strike="noStrike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The Challenge</a:t>
            </a:r>
            <a:endParaRPr b="0" i="0" sz="11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4740112" y="3657275"/>
            <a:ext cx="399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5275" lvl="0" marL="45720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Char char="●"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Utility and privacy are naturally in tension</a:t>
            </a:r>
            <a:endParaRPr sz="1050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5275" lvl="0" marL="45720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Char char="●"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Simple anonymization has repeatedly been shown to fail</a:t>
            </a:r>
            <a:endParaRPr sz="1050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None/>
            </a:pPr>
            <a:r>
              <a:t/>
            </a:r>
            <a:endParaRPr sz="1050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342600" y="559900"/>
            <a:ext cx="75963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2"/>
              <a:buFont typeface="Inter"/>
              <a:buNone/>
            </a:pPr>
            <a:r>
              <a:rPr b="1" lang="en" sz="1602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Differential Privacy Provides a Formal Privacy Guarantee</a:t>
            </a:r>
            <a:endParaRPr b="0" i="0" sz="16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276447" y="1281898"/>
            <a:ext cx="45690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193"/>
              <a:buFont typeface="Inter"/>
              <a:buNone/>
            </a:pPr>
            <a:r>
              <a:rPr b="1" i="0" lang="en" sz="1193" u="none" cap="none" strike="noStrike">
                <a:solidFill>
                  <a:srgbClr val="457B9D"/>
                </a:solidFill>
                <a:latin typeface="Inter"/>
                <a:ea typeface="Inter"/>
                <a:cs typeface="Inter"/>
                <a:sym typeface="Inter"/>
              </a:rPr>
              <a:t>Definition (ε-Differential Privacy)</a:t>
            </a:r>
            <a:endParaRPr b="0" i="0" sz="11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342600" y="1612669"/>
            <a:ext cx="4709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None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A randomized mechanism 𝑴 satisfies ε-differential privacy if, for any two datasets differing in one individual, the probabilities of any output S remain close.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276450" y="2594650"/>
            <a:ext cx="4190400" cy="28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276439" y="2740804"/>
            <a:ext cx="22566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8"/>
              <a:buFont typeface="Inter"/>
              <a:buNone/>
            </a:pPr>
            <a:r>
              <a:rPr b="1" i="0" lang="en" sz="1808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Pr[M(D₁) ∈ S] ≤ e</a:t>
            </a:r>
            <a:endParaRPr b="0" i="0" sz="180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2227138" y="2734654"/>
            <a:ext cx="3537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87"/>
              <a:buFont typeface="Inter"/>
              <a:buNone/>
            </a:pPr>
            <a:r>
              <a:rPr b="1" baseline="30000" i="0" lang="en" sz="987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ε</a:t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2457576" y="2733988"/>
            <a:ext cx="2009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8"/>
              <a:buFont typeface="Inter"/>
              <a:buNone/>
            </a:pPr>
            <a:r>
              <a:rPr b="1" i="0" lang="en" sz="1808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Pr[M(D₂) ∈  </a:t>
            </a:r>
            <a:r>
              <a:rPr b="1" lang="en" sz="180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S]</a:t>
            </a:r>
            <a:endParaRPr b="1" sz="1808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292600" y="3483400"/>
            <a:ext cx="4222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None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Changing one person’s data only has a limited effect on the output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318605" y="1281898"/>
            <a:ext cx="33315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392"/>
              <a:buFont typeface="Inter"/>
              <a:buNone/>
            </a:pPr>
            <a:r>
              <a:rPr b="1" i="0" lang="en" sz="1391" u="none" cap="none" strike="noStrike">
                <a:solidFill>
                  <a:srgbClr val="457B9D"/>
                </a:solidFill>
                <a:latin typeface="Inter"/>
                <a:ea typeface="Inter"/>
                <a:cs typeface="Inter"/>
                <a:sym typeface="Inter"/>
              </a:rPr>
              <a:t>The Privacy Parameter ε (Epsilon)</a:t>
            </a:r>
            <a:endParaRPr b="0" i="0" sz="139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318605" y="1553091"/>
            <a:ext cx="9762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250" lIns="119125" spcFirstLastPara="1" rIns="119125" wrap="square" tIns="9925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32"/>
              <a:buFont typeface="Inter"/>
              <a:buNone/>
            </a:pPr>
            <a:r>
              <a:rPr b="1" lang="en" sz="1032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ε Value</a:t>
            </a:r>
            <a:endParaRPr b="0" i="0" sz="10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294637" y="1553091"/>
            <a:ext cx="1098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250" lIns="119125" spcFirstLastPara="1" rIns="119125" wrap="square" tIns="9925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32"/>
              <a:buFont typeface="Inter"/>
              <a:buNone/>
            </a:pPr>
            <a:r>
              <a:rPr b="1" lang="en" sz="1032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Privacy</a:t>
            </a:r>
            <a:endParaRPr b="0" i="0" sz="10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7393337" y="1553091"/>
            <a:ext cx="12567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250" lIns="119125" spcFirstLastPara="1" rIns="119125" wrap="square" tIns="9925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32"/>
              <a:buFont typeface="Inter"/>
              <a:buNone/>
            </a:pPr>
            <a:r>
              <a:rPr b="1" lang="en" sz="1032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Utility</a:t>
            </a:r>
            <a:endParaRPr b="0" i="0" sz="10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5514336" y="2122482"/>
            <a:ext cx="412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99"/>
              <a:buFont typeface="Merriweather"/>
              <a:buNone/>
            </a:pPr>
            <a:r>
              <a:rPr b="0" i="0" lang="en" sz="1098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Small</a:t>
            </a:r>
            <a:endParaRPr b="0" i="0" sz="10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418614" y="2335581"/>
            <a:ext cx="7605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99"/>
              <a:buFont typeface="Merriweather"/>
              <a:buNone/>
            </a:pPr>
            <a:r>
              <a:rPr b="0" i="0" lang="en" sz="1098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(e.g., 0.1)</a:t>
            </a:r>
            <a:endParaRPr b="0" i="0" sz="10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294637" y="2098974"/>
            <a:ext cx="10986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250" lIns="119125" spcFirstLastPara="1" rIns="119125" wrap="square" tIns="9925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99"/>
              <a:buFont typeface="Merriweather"/>
              <a:buNone/>
            </a:pPr>
            <a:r>
              <a:rPr b="0" i="0" lang="en" sz="1098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Stronger</a:t>
            </a:r>
            <a:endParaRPr b="0" i="0" sz="10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7393337" y="2098974"/>
            <a:ext cx="12567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250" lIns="119125" spcFirstLastPara="1" rIns="119125" wrap="square" tIns="9925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99"/>
              <a:buFont typeface="Merriweather"/>
              <a:buNone/>
            </a:pPr>
            <a:r>
              <a:rPr b="0" i="0" lang="en" sz="1098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Lower </a:t>
            </a:r>
            <a:endParaRPr b="0" i="0" sz="10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5418614" y="2761534"/>
            <a:ext cx="6042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99"/>
              <a:buFont typeface="Merriweather"/>
              <a:buNone/>
            </a:pPr>
            <a:r>
              <a:rPr b="0" i="0" lang="en" sz="1098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Medium</a:t>
            </a:r>
            <a:endParaRPr b="0" i="0" sz="10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418614" y="2951134"/>
            <a:ext cx="5856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99"/>
              <a:buFont typeface="Merriweather"/>
              <a:buNone/>
            </a:pPr>
            <a:r>
              <a:rPr b="0" i="0" lang="en" sz="1098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(e.g., 1.0)</a:t>
            </a:r>
            <a:endParaRPr b="0" i="0" sz="10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294637" y="2669859"/>
            <a:ext cx="10986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250" lIns="119125" spcFirstLastPara="1" rIns="119125" wrap="square" tIns="9925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99"/>
              <a:buFont typeface="Merriweather"/>
              <a:buNone/>
            </a:pPr>
            <a:r>
              <a:rPr b="0" i="0" lang="en" sz="1098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Balanced</a:t>
            </a:r>
            <a:endParaRPr b="0" i="0" sz="10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7393337" y="2669859"/>
            <a:ext cx="12567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250" lIns="119125" spcFirstLastPara="1" rIns="119125" wrap="square" tIns="9925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99"/>
              <a:buFont typeface="Merriweather"/>
              <a:buNone/>
            </a:pPr>
            <a:r>
              <a:rPr b="0" i="0" lang="en" sz="1098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Moderate </a:t>
            </a:r>
            <a:endParaRPr b="0" i="0" sz="10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5505061" y="3324085"/>
            <a:ext cx="412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99"/>
              <a:buFont typeface="Merriweather"/>
              <a:buNone/>
            </a:pPr>
            <a:r>
              <a:rPr b="0" i="0" lang="en" sz="1098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Large</a:t>
            </a:r>
            <a:endParaRPr b="0" i="0" sz="10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342855" y="3513770"/>
            <a:ext cx="7371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99"/>
              <a:buFont typeface="Merriweather"/>
              <a:buNone/>
            </a:pPr>
            <a:r>
              <a:rPr b="0" i="0" lang="en" sz="1098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(e.g., 2.0+)</a:t>
            </a:r>
            <a:endParaRPr b="0" i="0" sz="10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6294637" y="3232410"/>
            <a:ext cx="10986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250" lIns="119125" spcFirstLastPara="1" rIns="119125" wrap="square" tIns="9925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99"/>
              <a:buFont typeface="Merriweather"/>
              <a:buNone/>
            </a:pPr>
            <a:r>
              <a:rPr b="0" i="0" lang="en" sz="1098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Weaker </a:t>
            </a:r>
            <a:endParaRPr b="0" i="0" sz="10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7393249" y="3232410"/>
            <a:ext cx="12567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250" lIns="119125" spcFirstLastPara="1" rIns="119125" wrap="square" tIns="9925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99"/>
              <a:buFont typeface="Merriweather"/>
              <a:buNone/>
            </a:pPr>
            <a:r>
              <a:rPr b="0" i="0" lang="en" sz="1098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Higher</a:t>
            </a:r>
            <a:endParaRPr b="0" i="0" sz="10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15"/>
          <p:cNvCxnSpPr/>
          <p:nvPr/>
        </p:nvCxnSpPr>
        <p:spPr>
          <a:xfrm flipH="1" rot="10800000">
            <a:off x="276450" y="876400"/>
            <a:ext cx="8591100" cy="8400"/>
          </a:xfrm>
          <a:prstGeom prst="straightConnector1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5"/>
          <p:cNvSpPr/>
          <p:nvPr/>
        </p:nvSpPr>
        <p:spPr>
          <a:xfrm>
            <a:off x="5237275" y="2025009"/>
            <a:ext cx="3608400" cy="333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106650" lIns="106650" spcFirstLastPara="1" rIns="106650" wrap="square" tIns="10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5338075" y="3992750"/>
            <a:ext cx="30117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None/>
            </a:pPr>
            <a:r>
              <a:rPr b="1"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Smaller ε = stronger privacy, but lower utility.</a:t>
            </a:r>
            <a:endParaRPr b="1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308800" y="3120850"/>
            <a:ext cx="4190400" cy="28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Google Shape;140;p16"/>
          <p:cNvCxnSpPr/>
          <p:nvPr/>
        </p:nvCxnSpPr>
        <p:spPr>
          <a:xfrm flipH="1" rot="10800000">
            <a:off x="276450" y="876400"/>
            <a:ext cx="8591100" cy="8400"/>
          </a:xfrm>
          <a:prstGeom prst="straightConnector1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16"/>
          <p:cNvSpPr txBox="1"/>
          <p:nvPr/>
        </p:nvSpPr>
        <p:spPr>
          <a:xfrm>
            <a:off x="276450" y="428461"/>
            <a:ext cx="85911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2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Project Goal: Comparing Laplace and Gaussian Mechanisms</a:t>
            </a:r>
            <a:endParaRPr sz="16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276450" y="1158622"/>
            <a:ext cx="42900" cy="11943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390747" y="1219093"/>
            <a:ext cx="33099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90"/>
              <a:buFont typeface="Inter"/>
              <a:buNone/>
            </a:pPr>
            <a:r>
              <a:rPr b="1" i="0" lang="en" sz="109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OUR RESEARCH QUESTION</a:t>
            </a:r>
            <a:endParaRPr b="0" i="0" sz="109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390750" y="1476529"/>
            <a:ext cx="33099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93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9"/>
              <a:buFont typeface="Merriweather"/>
              <a:buNone/>
            </a:pPr>
            <a:r>
              <a:rPr b="0" i="1" lang="en" sz="1159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r>
              <a:rPr i="1" lang="en" sz="1159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Which mechanism, Laplace or Gaussian, provides better utility for common statistical queries under differential privacy?</a:t>
            </a:r>
            <a:r>
              <a:rPr b="0" i="1" lang="en" sz="1159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 b="0" i="0" sz="11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078175" y="1453681"/>
            <a:ext cx="3886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90"/>
              <a:buFont typeface="Inter"/>
              <a:buNone/>
            </a:pPr>
            <a:r>
              <a:rPr b="1" i="0" lang="en" sz="109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TWO MECHANISMS UNDER STUDY</a:t>
            </a:r>
            <a:endParaRPr b="0" i="0" sz="109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4078175" y="1685853"/>
            <a:ext cx="10482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85075" spcFirstLastPara="1" rIns="85075" wrap="square" tIns="6805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85"/>
              <a:buFont typeface="Inter"/>
              <a:buNone/>
            </a:pPr>
            <a:r>
              <a:rPr b="1" i="0" lang="en" sz="88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MECHANISM</a:t>
            </a:r>
            <a:endParaRPr b="0" i="0" sz="8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126520" y="1685853"/>
            <a:ext cx="7821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85075" spcFirstLastPara="1" rIns="85075" wrap="square" tIns="6805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85"/>
              <a:buFont typeface="Inter"/>
              <a:buNone/>
            </a:pPr>
            <a:r>
              <a:rPr b="1" i="0" lang="en" sz="88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PRIVACY TYPE</a:t>
            </a:r>
            <a:endParaRPr b="0" i="0" sz="8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908761" y="1685853"/>
            <a:ext cx="11556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85075" spcFirstLastPara="1" rIns="85075" wrap="square" tIns="6805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85"/>
              <a:buFont typeface="Inter"/>
              <a:buNone/>
            </a:pPr>
            <a:r>
              <a:rPr b="1" i="0" lang="en" sz="88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NOISE DISTRIBUTION</a:t>
            </a:r>
            <a:endParaRPr b="0" i="0" sz="8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7064263" y="1692703"/>
            <a:ext cx="9000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85075" spcFirstLastPara="1" rIns="85075" wrap="square" tIns="6805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85"/>
              <a:buFont typeface="Inter"/>
              <a:buNone/>
            </a:pPr>
            <a:r>
              <a:rPr b="1" lang="en" sz="88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Most Relevant For</a:t>
            </a:r>
            <a:endParaRPr b="1" i="0" sz="8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4078175" y="2189613"/>
            <a:ext cx="10482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85075" spcFirstLastPara="1" rIns="85075" wrap="square" tIns="6805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885"/>
              <a:buFont typeface="Merriweather"/>
              <a:buNone/>
            </a:pPr>
            <a:r>
              <a:rPr b="1" i="0" lang="en" sz="885" u="none" cap="none" strike="noStrike">
                <a:solidFill>
                  <a:srgbClr val="457B9D"/>
                </a:solidFill>
                <a:latin typeface="Merriweather"/>
                <a:ea typeface="Merriweather"/>
                <a:cs typeface="Merriweather"/>
                <a:sym typeface="Merriweather"/>
              </a:rPr>
              <a:t>Laplace </a:t>
            </a:r>
            <a:endParaRPr b="0" i="0" sz="8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126525" y="2246088"/>
            <a:ext cx="7821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85075" spcFirstLastPara="1" rIns="85075" wrap="square" tIns="6805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ε-DP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5908775" y="2213788"/>
            <a:ext cx="1155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85075" spcFirstLastPara="1" rIns="85075" wrap="square" tIns="6805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Laplace(0, Δf/ε)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7064275" y="2246063"/>
            <a:ext cx="14817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85075" spcFirstLastPara="1" rIns="85075" wrap="square" tIns="6805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lang="en" sz="942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Simple, low-sensitivity aggregate queries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4078175" y="2911006"/>
            <a:ext cx="1048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85075" spcFirstLastPara="1" rIns="85075" wrap="square" tIns="6805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885"/>
              <a:buFont typeface="Merriweather"/>
              <a:buNone/>
            </a:pPr>
            <a:r>
              <a:rPr b="1" i="0" lang="en" sz="885" u="none" cap="none" strike="noStrike">
                <a:solidFill>
                  <a:srgbClr val="457B9D"/>
                </a:solidFill>
                <a:latin typeface="Merriweather"/>
                <a:ea typeface="Merriweather"/>
                <a:cs typeface="Merriweather"/>
                <a:sym typeface="Merriweather"/>
              </a:rPr>
              <a:t>Gaussian</a:t>
            </a:r>
            <a:endParaRPr b="0" i="0" sz="8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5126520" y="2911006"/>
            <a:ext cx="782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85075" spcFirstLastPara="1" rIns="85075" wrap="square" tIns="6805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(ε, δ)-DP 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036450" y="2968013"/>
            <a:ext cx="9000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85075" spcFirstLastPara="1" rIns="85075" wrap="square" tIns="6805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N(0, σ²)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7064275" y="2967313"/>
            <a:ext cx="14817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85075" spcFirstLastPara="1" rIns="85075" wrap="square" tIns="6805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lang="en" sz="942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Approximate DP and repeated analysis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276447" y="2822505"/>
            <a:ext cx="35385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90"/>
              <a:buFont typeface="Inter"/>
              <a:buNone/>
            </a:pPr>
            <a:r>
              <a:rPr b="1" i="0" lang="en" sz="109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EVALUATION CRITERIA</a:t>
            </a:r>
            <a:endParaRPr b="0" i="0" sz="109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276447" y="3111827"/>
            <a:ext cx="35385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lang="en" sz="942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Mean absolute error and mean squared error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76447" y="3361858"/>
            <a:ext cx="35385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lang="en" sz="942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Effect of changing ε on utility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276450" y="3611897"/>
            <a:ext cx="3538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lang="en" sz="942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Performance by query type: count, mean, histogram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276447" y="3154690"/>
            <a:ext cx="519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621"/>
              <a:buFont typeface="Inter"/>
              <a:buNone/>
            </a:pPr>
            <a:r>
              <a:rPr b="0" i="0" lang="en" sz="621" u="none" cap="none" strike="noStrike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b="0" i="0" sz="62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276447" y="3404721"/>
            <a:ext cx="519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621"/>
              <a:buFont typeface="Inter"/>
              <a:buNone/>
            </a:pPr>
            <a:r>
              <a:rPr b="0" i="0" lang="en" sz="621" u="none" cap="none" strike="noStrike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b="0" i="0" sz="62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276447" y="3654752"/>
            <a:ext cx="519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621"/>
              <a:buFont typeface="Inter"/>
              <a:buNone/>
            </a:pPr>
            <a:r>
              <a:rPr b="0" i="0" lang="en" sz="621" u="none" cap="none" strike="noStrike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b="0" i="0" sz="62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16"/>
          <p:cNvCxnSpPr/>
          <p:nvPr/>
        </p:nvCxnSpPr>
        <p:spPr>
          <a:xfrm rot="10800000">
            <a:off x="4077625" y="2181613"/>
            <a:ext cx="4539000" cy="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/>
          <p:nvPr/>
        </p:nvSpPr>
        <p:spPr>
          <a:xfrm>
            <a:off x="383950" y="510325"/>
            <a:ext cx="7596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2"/>
              <a:buFont typeface="Inter"/>
              <a:buNone/>
            </a:pPr>
            <a:r>
              <a:rPr b="1" lang="en" sz="1602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Adult Income Dataset and Query Types</a:t>
            </a:r>
            <a:endParaRPr b="0" i="0" sz="16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384022" y="1288268"/>
            <a:ext cx="36552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93"/>
              <a:buFont typeface="Inter"/>
              <a:buNone/>
            </a:pPr>
            <a:r>
              <a:rPr b="1" i="0" lang="en" sz="1193" u="none" cap="none" strike="noStrike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Dataset: UCI Adult Income</a:t>
            </a:r>
            <a:endParaRPr b="0" i="0" sz="11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168825" y="1556600"/>
            <a:ext cx="4047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-288417" lvl="0" marL="45720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42"/>
              <a:buFont typeface="Merriweather"/>
              <a:buChar char="●"/>
            </a:pPr>
            <a:r>
              <a:rPr lang="en" sz="942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30,162 cleaned records from the UCI Adult Income dataset</a:t>
            </a:r>
            <a:endParaRPr sz="942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88417" lvl="0" marL="45720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42"/>
              <a:buFont typeface="Merriweather"/>
              <a:buChar char="●"/>
            </a:pPr>
            <a:r>
              <a:rPr lang="en" sz="942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Features used: age, hours-per-week, income, education</a:t>
            </a:r>
            <a:endParaRPr sz="942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88417" lvl="0" marL="45720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42"/>
              <a:buFont typeface="Merriweather"/>
              <a:buChar char="●"/>
            </a:pPr>
            <a:r>
              <a:rPr lang="en" sz="942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Used to evaluate count, mean, and histogram queries</a:t>
            </a:r>
            <a:endParaRPr sz="942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383950" y="3126400"/>
            <a:ext cx="62700" cy="1087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526822" y="3176987"/>
            <a:ext cx="3369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87"/>
              <a:buFont typeface="Inter"/>
              <a:buNone/>
            </a:pPr>
            <a:r>
              <a:rPr b="1" i="0" lang="en" sz="987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Why Sensitivity Matters</a:t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526825" y="3421648"/>
            <a:ext cx="3369600" cy="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8417" lvl="0" marL="45720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42"/>
              <a:buFont typeface="Merriweather"/>
              <a:buChar char="●"/>
            </a:pPr>
            <a:r>
              <a:rPr lang="en" sz="942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DP noise is calibrated to query sensitivity</a:t>
            </a:r>
            <a:endParaRPr sz="942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88417" lvl="0" marL="45720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42"/>
              <a:buFont typeface="Merriweather"/>
              <a:buChar char="●"/>
            </a:pPr>
            <a:r>
              <a:rPr lang="en" sz="942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Higher sensitivity → more noise</a:t>
            </a:r>
            <a:endParaRPr sz="942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88417" lvl="0" marL="45720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42"/>
              <a:buFont typeface="Merriweather"/>
              <a:buChar char="●"/>
            </a:pPr>
            <a:r>
              <a:rPr lang="en" sz="942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More noise → lower utility</a:t>
            </a:r>
            <a:endParaRPr sz="942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5013697" y="1288281"/>
            <a:ext cx="36552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93"/>
              <a:buFont typeface="Inter"/>
              <a:buNone/>
            </a:pPr>
            <a:r>
              <a:rPr b="1" i="0" lang="en" sz="1193" u="none" cap="none" strike="noStrike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Three Query Types Tested</a:t>
            </a:r>
            <a:endParaRPr b="0" i="0" sz="11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5013697" y="1423386"/>
            <a:ext cx="876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85"/>
              <a:buFont typeface="Inter"/>
              <a:buNone/>
            </a:pPr>
            <a:r>
              <a:rPr b="1" i="0" lang="en" sz="88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QUERY</a:t>
            </a:r>
            <a:endParaRPr b="0" i="0" sz="8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5890592" y="1423386"/>
            <a:ext cx="15474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85"/>
              <a:buFont typeface="Inter"/>
              <a:buNone/>
            </a:pPr>
            <a:r>
              <a:rPr b="1" i="0" lang="en" sz="88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DESCRIPTION</a:t>
            </a:r>
            <a:endParaRPr b="0" i="0" sz="8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7437856" y="1423386"/>
            <a:ext cx="12312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85"/>
              <a:buFont typeface="Inter"/>
              <a:buNone/>
            </a:pPr>
            <a:r>
              <a:rPr b="1" i="0" lang="en" sz="88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SENSITIVITY (ΔF)</a:t>
            </a:r>
            <a:endParaRPr b="0" i="0" sz="8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5109303" y="2256882"/>
            <a:ext cx="371400" cy="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Count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5890592" y="1962740"/>
            <a:ext cx="1547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Number of individuals earning &gt;50K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7437856" y="1962740"/>
            <a:ext cx="12312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Δf = 1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5120853" y="2949972"/>
            <a:ext cx="348300" cy="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Mean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890592" y="2738534"/>
            <a:ext cx="15474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Average age across all records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7437856" y="2738534"/>
            <a:ext cx="12312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Δf = (max − min) / n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5120853" y="3538606"/>
            <a:ext cx="662700" cy="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Histogram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5890592" y="3327168"/>
            <a:ext cx="15474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Distribution of education levels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7545012" y="3538606"/>
            <a:ext cx="682200" cy="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i="1" lang="en" sz="942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Δf = 1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7"/>
          <p:cNvCxnSpPr/>
          <p:nvPr/>
        </p:nvCxnSpPr>
        <p:spPr>
          <a:xfrm flipH="1" rot="10800000">
            <a:off x="276450" y="876400"/>
            <a:ext cx="8591100" cy="8400"/>
          </a:xfrm>
          <a:prstGeom prst="straightConnector1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17"/>
          <p:cNvSpPr/>
          <p:nvPr/>
        </p:nvSpPr>
        <p:spPr>
          <a:xfrm>
            <a:off x="5120850" y="1923900"/>
            <a:ext cx="3746700" cy="28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276450" y="500825"/>
            <a:ext cx="75963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2"/>
              <a:buFont typeface="Inter"/>
              <a:buNone/>
            </a:pPr>
            <a:r>
              <a:rPr b="1" lang="en" sz="1602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Mechanisms Compared: Laplace vs. Gaussian</a:t>
            </a:r>
            <a:endParaRPr b="0" i="0" sz="16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773847" y="1296926"/>
            <a:ext cx="36552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996"/>
              </a:lnSpc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295"/>
              <a:buFont typeface="Inter"/>
              <a:buNone/>
            </a:pPr>
            <a:r>
              <a:rPr b="1" i="0" lang="en" sz="1295" u="none" cap="none" strike="noStrike">
                <a:solidFill>
                  <a:srgbClr val="457B9D"/>
                </a:solidFill>
                <a:latin typeface="Inter"/>
                <a:ea typeface="Inter"/>
                <a:cs typeface="Inter"/>
                <a:sym typeface="Inter"/>
              </a:rPr>
              <a:t>Laplace Mechanism</a:t>
            </a:r>
            <a:endParaRPr b="0" i="0" sz="12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773850" y="1764844"/>
            <a:ext cx="36552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lang="en" sz="942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Adds noise scaled to query sensitivity.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773847" y="2186783"/>
            <a:ext cx="3655200" cy="49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773847" y="2186783"/>
            <a:ext cx="42900" cy="4929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916722" y="2329658"/>
            <a:ext cx="33696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93"/>
              <a:buFont typeface="Inter"/>
              <a:buNone/>
            </a:pPr>
            <a:r>
              <a:rPr b="1" i="0" lang="en" sz="1193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Noise ~ Laplace(0, Δf / ε)</a:t>
            </a:r>
            <a:endParaRPr b="0" i="0" sz="11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773847" y="2858295"/>
            <a:ext cx="36552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Satisfies pure ε-differential privacy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773847" y="3136902"/>
            <a:ext cx="36552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lang="en" sz="942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Worked well for the low-sensitivity queries tested here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773847" y="3415508"/>
            <a:ext cx="36552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Simple to implement and analyze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773847" y="2858295"/>
            <a:ext cx="51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885"/>
              <a:buFont typeface="Inter"/>
              <a:buNone/>
            </a:pPr>
            <a:r>
              <a:rPr b="1" i="0" lang="en" sz="885" u="none" cap="none" strike="noStrike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8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773847" y="3136902"/>
            <a:ext cx="51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885"/>
              <a:buFont typeface="Inter"/>
              <a:buNone/>
            </a:pPr>
            <a:r>
              <a:rPr b="1" i="0" lang="en" sz="885" u="none" cap="none" strike="noStrike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8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773847" y="3415508"/>
            <a:ext cx="51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885"/>
              <a:buFont typeface="Inter"/>
              <a:buNone/>
            </a:pPr>
            <a:r>
              <a:rPr b="1" i="0" lang="en" sz="885" u="none" cap="none" strike="noStrike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8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4714797" y="1296926"/>
            <a:ext cx="36552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996"/>
              </a:lnSpc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295"/>
              <a:buFont typeface="Inter"/>
              <a:buNone/>
            </a:pPr>
            <a:r>
              <a:rPr b="1" i="0" lang="en" sz="1295" u="none" cap="none" strike="noStrike">
                <a:solidFill>
                  <a:srgbClr val="457B9D"/>
                </a:solidFill>
                <a:latin typeface="Inter"/>
                <a:ea typeface="Inter"/>
                <a:cs typeface="Inter"/>
                <a:sym typeface="Inter"/>
              </a:rPr>
              <a:t>Gaussian Mechanism</a:t>
            </a:r>
            <a:endParaRPr b="0" i="0" sz="12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4714800" y="1764847"/>
            <a:ext cx="36552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lang="en" sz="942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Adds Gaussian noise calibrated using ε, δ, and sensitivity.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714797" y="2097136"/>
            <a:ext cx="3655200" cy="70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4714797" y="2097136"/>
            <a:ext cx="42900" cy="702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4857672" y="2240011"/>
            <a:ext cx="33696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93"/>
              <a:buFont typeface="Inter"/>
              <a:buNone/>
            </a:pPr>
            <a:r>
              <a:rPr b="1" i="0" lang="en" sz="1193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Noise ~ N(0, σ²)</a:t>
            </a:r>
            <a:endParaRPr b="0" i="0" sz="11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4857672" y="2518617"/>
            <a:ext cx="336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4"/>
              <a:buFont typeface="Inter"/>
              <a:buNone/>
            </a:pPr>
            <a:r>
              <a:rPr b="1" i="0" lang="en" sz="784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where σ ≥ Δf · √(2 ln(1.25/δ)) / ε</a:t>
            </a:r>
            <a:endParaRPr b="0" i="0" sz="7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714797" y="2977603"/>
            <a:ext cx="36552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lang="en" sz="942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Supports approximate (ε,δ)-DP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4714797" y="3256209"/>
            <a:ext cx="36552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Merriweather"/>
              <a:buNone/>
            </a:pPr>
            <a:r>
              <a:rPr lang="en" sz="942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Common in repeated-analysis and composition settings</a:t>
            </a:r>
            <a:endParaRPr b="0" i="0" sz="9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773850" y="4235977"/>
            <a:ext cx="7596300" cy="702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4714797" y="2977603"/>
            <a:ext cx="51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885"/>
              <a:buFont typeface="Inter"/>
              <a:buNone/>
            </a:pPr>
            <a:r>
              <a:rPr b="1" i="0" lang="en" sz="885" u="none" cap="none" strike="noStrike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8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4714797" y="3256209"/>
            <a:ext cx="51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885"/>
              <a:buFont typeface="Inter"/>
              <a:buNone/>
            </a:pPr>
            <a:r>
              <a:rPr b="1" i="0" lang="en" sz="885" u="none" cap="none" strike="noStrike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8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881100" y="4326620"/>
            <a:ext cx="73818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97"/>
              <a:buFont typeface="Inter"/>
              <a:buNone/>
            </a:pPr>
            <a:r>
              <a:rPr b="1" lang="en" sz="1397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Laplace: </a:t>
            </a:r>
            <a:r>
              <a:rPr b="1" lang="en" sz="1397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simple and accurate for low-sensitivity queries</a:t>
            </a:r>
            <a:r>
              <a:rPr b="1" lang="en" sz="1397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1397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r>
              <a:rPr b="1" lang="en" sz="1397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1397">
                <a:solidFill>
                  <a:srgbClr val="4A86E8"/>
                </a:solidFill>
                <a:latin typeface="Inter"/>
                <a:ea typeface="Inter"/>
                <a:cs typeface="Inter"/>
                <a:sym typeface="Inter"/>
              </a:rPr>
              <a:t>Gaussian:</a:t>
            </a:r>
            <a:r>
              <a:rPr b="1" lang="en" sz="1397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1397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useful for approximate DP and repeated analysis</a:t>
            </a:r>
            <a:endParaRPr b="0" i="0" sz="139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18"/>
          <p:cNvCxnSpPr/>
          <p:nvPr/>
        </p:nvCxnSpPr>
        <p:spPr>
          <a:xfrm flipH="1" rot="10800000">
            <a:off x="276450" y="825825"/>
            <a:ext cx="8591100" cy="8400"/>
          </a:xfrm>
          <a:prstGeom prst="straightConnector1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 txBox="1"/>
          <p:nvPr>
            <p:ph type="title"/>
          </p:nvPr>
        </p:nvSpPr>
        <p:spPr>
          <a:xfrm>
            <a:off x="257175" y="417576"/>
            <a:ext cx="8591100" cy="3303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rm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2"/>
              <a:buFont typeface="Inter"/>
              <a:buNone/>
            </a:pPr>
            <a:r>
              <a:rPr b="1" lang="en" sz="1824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Implementation and Experimental Setup</a:t>
            </a:r>
            <a:endParaRPr/>
          </a:p>
        </p:txBody>
      </p:sp>
      <p:cxnSp>
        <p:nvCxnSpPr>
          <p:cNvPr id="225" name="Google Shape;225;p19"/>
          <p:cNvCxnSpPr/>
          <p:nvPr/>
        </p:nvCxnSpPr>
        <p:spPr>
          <a:xfrm flipH="1" rot="10800000">
            <a:off x="257175" y="856826"/>
            <a:ext cx="8591100" cy="8400"/>
          </a:xfrm>
          <a:prstGeom prst="straightConnector1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19"/>
          <p:cNvSpPr/>
          <p:nvPr/>
        </p:nvSpPr>
        <p:spPr>
          <a:xfrm>
            <a:off x="425778" y="1525440"/>
            <a:ext cx="37182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193"/>
              <a:buFont typeface="Inter"/>
              <a:buNone/>
            </a:pPr>
            <a:r>
              <a:rPr b="1" i="0" lang="en" sz="1393" u="none" cap="none" strike="noStrike">
                <a:solidFill>
                  <a:srgbClr val="457B9D"/>
                </a:solidFill>
                <a:latin typeface="Inter"/>
                <a:ea typeface="Inter"/>
                <a:cs typeface="Inter"/>
                <a:sym typeface="Inter"/>
              </a:rPr>
              <a:t>Technology Stack</a:t>
            </a:r>
            <a:endParaRPr b="0" i="0" sz="13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425775" y="1872808"/>
            <a:ext cx="3718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3025" spcFirstLastPara="1" rIns="0" wrap="square" tIns="0">
            <a:no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87"/>
              <a:buFont typeface="Merriweather"/>
              <a:buNone/>
            </a:pPr>
            <a:r>
              <a:rPr b="1" i="0" lang="en" sz="987" u="none" cap="none" strike="noStrike">
                <a:solidFill>
                  <a:srgbClr val="111111"/>
                </a:solidFill>
                <a:latin typeface="Merriweather"/>
                <a:ea typeface="Merriweather"/>
                <a:cs typeface="Merriweather"/>
                <a:sym typeface="Merriweather"/>
              </a:rPr>
              <a:t>Language:</a:t>
            </a:r>
            <a:r>
              <a:rPr b="0" i="0" lang="en" sz="1050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 Python 3</a:t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425778" y="2144283"/>
            <a:ext cx="371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3025" spcFirstLastPara="1" rIns="0" wrap="square" tIns="0">
            <a:no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87"/>
              <a:buFont typeface="Merriweather"/>
              <a:buNone/>
            </a:pPr>
            <a:r>
              <a:rPr b="1" i="0" lang="en" sz="987" u="none" cap="none" strike="noStrike">
                <a:solidFill>
                  <a:srgbClr val="111111"/>
                </a:solidFill>
                <a:latin typeface="Merriweather"/>
                <a:ea typeface="Merriweather"/>
                <a:cs typeface="Merriweather"/>
                <a:sym typeface="Merriweather"/>
              </a:rPr>
              <a:t>Libraries:</a:t>
            </a:r>
            <a:r>
              <a:rPr b="0" i="0" lang="en" sz="1050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 NumPy, pandas</a:t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445053" y="1872808"/>
            <a:ext cx="5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237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987"/>
              <a:buFont typeface="Inter"/>
              <a:buNone/>
            </a:pPr>
            <a:r>
              <a:rPr b="1" i="0" lang="en" sz="987" u="none" cap="none" strike="noStrike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445053" y="2144271"/>
            <a:ext cx="5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237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987"/>
              <a:buFont typeface="Inter"/>
              <a:buNone/>
            </a:pPr>
            <a:r>
              <a:rPr b="1" i="0" lang="en" sz="987" u="none" cap="none" strike="noStrike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372853" y="2563121"/>
            <a:ext cx="37182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193"/>
              <a:buFont typeface="Inter"/>
              <a:buNone/>
            </a:pPr>
            <a:r>
              <a:rPr b="1" i="0" lang="en" sz="1193" u="none" cap="none" strike="noStrike">
                <a:solidFill>
                  <a:srgbClr val="457B9D"/>
                </a:solidFill>
                <a:latin typeface="Inter"/>
                <a:ea typeface="Inter"/>
                <a:cs typeface="Inter"/>
                <a:sym typeface="Inter"/>
              </a:rPr>
              <a:t>Experimental Design</a:t>
            </a:r>
            <a:endParaRPr b="0" i="0" sz="11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425778" y="2932252"/>
            <a:ext cx="371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None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Repeated trials were run for each query and ε value, and utility was measured using MAE and MSE.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1668150" y="3976350"/>
            <a:ext cx="5807700" cy="5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1668150" y="3976345"/>
            <a:ext cx="57300" cy="5001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1765175" y="4063841"/>
            <a:ext cx="5202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93"/>
              <a:buFont typeface="Inter"/>
              <a:buNone/>
            </a:pPr>
            <a:r>
              <a:t/>
            </a:r>
            <a:endParaRPr b="0" i="0" sz="12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4757450" y="1536290"/>
            <a:ext cx="37182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193"/>
              <a:buFont typeface="Inter"/>
              <a:buNone/>
            </a:pPr>
            <a:r>
              <a:rPr b="1" lang="en" sz="1393">
                <a:solidFill>
                  <a:srgbClr val="457B9D"/>
                </a:solidFill>
                <a:latin typeface="Inter"/>
                <a:ea typeface="Inter"/>
                <a:cs typeface="Inter"/>
                <a:sym typeface="Inter"/>
              </a:rPr>
              <a:t>Experiment Setup</a:t>
            </a:r>
            <a:endParaRPr b="0" i="0" sz="13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4757450" y="1797122"/>
            <a:ext cx="30000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5275" lvl="0" marL="45720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Char char="●"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Mechanisms: Laplace, Gaussian</a:t>
            </a:r>
            <a:endParaRPr sz="1050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5275" lvl="0" marL="45720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Char char="●"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Queries: Count, Mean, Histogram</a:t>
            </a:r>
            <a:endParaRPr sz="1050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5275" lvl="0" marL="45720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Char char="●"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ε values: {0.1, 0.5, 1.0, 2.0}</a:t>
            </a:r>
            <a:endParaRPr sz="1050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5275" lvl="0" marL="45720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Char char="●"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Gaussian setting: δ = 10e-5</a:t>
            </a:r>
            <a:endParaRPr sz="1050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5275" lvl="0" marL="45720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Char char="●"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Metrics: MAE, MSE</a:t>
            </a:r>
            <a:endParaRPr sz="1050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5275" lvl="0" marL="45720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Char char="●"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Repeated trials used for averaging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1792876" y="4097750"/>
            <a:ext cx="5682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93"/>
              <a:buFont typeface="Inter"/>
              <a:buNone/>
            </a:pPr>
            <a:r>
              <a:rPr b="1" lang="en" sz="1293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Goal</a:t>
            </a:r>
            <a:r>
              <a:rPr lang="en" sz="1293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: measure how ε affects utility across mechanisms and query types</a:t>
            </a:r>
            <a:endParaRPr i="0" sz="11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"/>
          <p:cNvSpPr txBox="1"/>
          <p:nvPr/>
        </p:nvSpPr>
        <p:spPr>
          <a:xfrm>
            <a:off x="276450" y="375300"/>
            <a:ext cx="80409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2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Results: Count Query Utility Improves as ε Increases</a:t>
            </a:r>
            <a:endParaRPr sz="16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20"/>
          <p:cNvCxnSpPr/>
          <p:nvPr/>
        </p:nvCxnSpPr>
        <p:spPr>
          <a:xfrm flipH="1" rot="10800000">
            <a:off x="276450" y="876400"/>
            <a:ext cx="8591100" cy="8400"/>
          </a:xfrm>
          <a:prstGeom prst="straightConnector1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20"/>
          <p:cNvSpPr/>
          <p:nvPr/>
        </p:nvSpPr>
        <p:spPr>
          <a:xfrm>
            <a:off x="5527516" y="1185863"/>
            <a:ext cx="57300" cy="2575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5729479" y="1560668"/>
            <a:ext cx="25815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9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b="1" lang="en" sz="129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ey Observation</a:t>
            </a:r>
            <a:endParaRPr sz="12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5639125" y="1943775"/>
            <a:ext cx="33717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5275" lvl="0" marL="45720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Char char="●"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Error decreases as ε increases</a:t>
            </a:r>
            <a:endParaRPr sz="1050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5275" lvl="0" marL="45720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Char char="●"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Laplace has lower error than Gaussian at every tested ε</a:t>
            </a:r>
            <a:endParaRPr sz="1050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5275" lvl="0" marL="45720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Merriweather"/>
              <a:buChar char="●"/>
            </a:pPr>
            <a:r>
              <a:rPr lang="en" sz="105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This confirms the expected privacy–utility trade-off</a:t>
            </a:r>
            <a:endParaRPr sz="1050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48" name="Google Shape;248;p2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876" y="1094975"/>
            <a:ext cx="5097999" cy="315229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9" name="Google Shape;249;p20"/>
          <p:cNvSpPr txBox="1"/>
          <p:nvPr/>
        </p:nvSpPr>
        <p:spPr>
          <a:xfrm>
            <a:off x="553850" y="4200825"/>
            <a:ext cx="4543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Examples:</a:t>
            </a:r>
            <a:endParaRPr b="1" sz="10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rriweather"/>
              <a:buChar char="●"/>
            </a:pP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ε = 0.1: Laplace 9.11, Gaussian 37.02</a:t>
            </a:r>
            <a:b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10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rriweather"/>
              <a:buChar char="●"/>
            </a:pP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ε = 2.0: Laplace 0.57, Gaussian 2.05</a:t>
            </a:r>
            <a:endParaRPr sz="10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"/>
          <p:cNvSpPr/>
          <p:nvPr/>
        </p:nvSpPr>
        <p:spPr>
          <a:xfrm>
            <a:off x="352475" y="383799"/>
            <a:ext cx="80832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3"/>
              <a:buFont typeface="Inter"/>
              <a:buNone/>
            </a:pPr>
            <a:r>
              <a:rPr b="1" lang="en" sz="1702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Privacy–Utility Tradeoff: The Core Result</a:t>
            </a:r>
            <a:endParaRPr b="0" i="0" sz="17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200575" y="1039498"/>
            <a:ext cx="80832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268"/>
              <a:buFont typeface="Inter"/>
              <a:buNone/>
            </a:pPr>
            <a:r>
              <a:rPr b="1" i="0" lang="en" sz="1267" u="none" cap="none" strike="noStrike">
                <a:solidFill>
                  <a:srgbClr val="457B9D"/>
                </a:solidFill>
                <a:latin typeface="Inter"/>
                <a:ea typeface="Inter"/>
                <a:cs typeface="Inter"/>
                <a:sym typeface="Inter"/>
              </a:rPr>
              <a:t>Core Insight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291625" y="1414400"/>
            <a:ext cx="80832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16"/>
              <a:buFont typeface="Merriweather"/>
              <a:buNone/>
            </a:pPr>
            <a:r>
              <a:rPr lang="en" sz="1115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Differential privacy does not remove the tension between privacy and accuracy — it makes the tradeoff measurable and controllable.</a:t>
            </a:r>
            <a:endParaRPr b="0" i="0" sz="11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291575" y="2526101"/>
            <a:ext cx="3518400" cy="303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7175" lIns="97175" spcFirstLastPara="1" rIns="97175" wrap="square" tIns="97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200575" y="2188977"/>
            <a:ext cx="351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325" lIns="108500" spcFirstLastPara="1" rIns="108500" wrap="square" tIns="72325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41"/>
              <a:buFont typeface="Inter"/>
              <a:buNone/>
            </a:pPr>
            <a:r>
              <a:rPr b="1" i="0" lang="en" sz="94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PRIVACY GOAL</a:t>
            </a:r>
            <a:endParaRPr b="0" i="0" sz="9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3809859" y="2526088"/>
            <a:ext cx="1334100" cy="303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7175" lIns="97175" spcFirstLastPara="1" rIns="97175" wrap="square" tIns="97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3237897" y="2226252"/>
            <a:ext cx="133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325" lIns="108500" spcFirstLastPara="1" rIns="108500" wrap="square" tIns="72325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41"/>
              <a:buFont typeface="Inter"/>
              <a:buNone/>
            </a:pPr>
            <a:r>
              <a:rPr b="1" lang="en" sz="94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TYPICAL ε</a:t>
            </a:r>
            <a:endParaRPr b="0" i="0" sz="9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5098438" y="2526101"/>
            <a:ext cx="3231000" cy="303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7175" lIns="97175" spcFirstLastPara="1" rIns="97175" wrap="square" tIns="97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1"/>
          <p:cNvSpPr/>
          <p:nvPr/>
        </p:nvSpPr>
        <p:spPr>
          <a:xfrm>
            <a:off x="5231992" y="2239075"/>
            <a:ext cx="1155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325" lIns="108500" spcFirstLastPara="1" rIns="108500" wrap="square" tIns="72325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41"/>
              <a:buFont typeface="Inter"/>
              <a:buNone/>
            </a:pPr>
            <a:r>
              <a:rPr b="1" i="0" lang="en" sz="94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CONSEQUENCE</a:t>
            </a:r>
            <a:endParaRPr b="0" i="0" sz="9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276457" y="2643686"/>
            <a:ext cx="9603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1"/>
              <a:buFont typeface="Merriweather"/>
              <a:buNone/>
            </a:pPr>
            <a:r>
              <a:rPr b="0" i="0" lang="en" sz="1001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Strong privacy</a:t>
            </a:r>
            <a:endParaRPr b="0" i="0" sz="10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3472809" y="2538998"/>
            <a:ext cx="133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325" lIns="108500" spcFirstLastPara="1" rIns="108500" wrap="square" tIns="72325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1"/>
              <a:buFont typeface="Merriweather"/>
              <a:buNone/>
            </a:pPr>
            <a:r>
              <a:rPr b="0" i="0" lang="en" sz="1001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≤ 0.1</a:t>
            </a:r>
            <a:endParaRPr b="0" i="0" sz="10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5231988" y="2604648"/>
            <a:ext cx="3231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325" lIns="108500" spcFirstLastPara="1" rIns="108500" wrap="square" tIns="72325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1"/>
              <a:buFont typeface="Merriweather"/>
              <a:buNone/>
            </a:pPr>
            <a:r>
              <a:rPr b="0" i="0" lang="en" sz="1001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High noise, limited utility</a:t>
            </a:r>
            <a:endParaRPr b="0" i="0" sz="10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276457" y="2886484"/>
            <a:ext cx="8580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1"/>
              <a:buFont typeface="Merriweather"/>
              <a:buNone/>
            </a:pPr>
            <a:r>
              <a:rPr b="0" i="0" lang="en" sz="1001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Balanced use</a:t>
            </a:r>
            <a:endParaRPr b="0" i="0" sz="10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3472809" y="2801366"/>
            <a:ext cx="13341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325" lIns="108500" spcFirstLastPara="1" rIns="108500" wrap="square" tIns="72325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1"/>
              <a:buFont typeface="Merriweather"/>
              <a:buNone/>
            </a:pPr>
            <a:r>
              <a:rPr b="0" i="0" lang="en" sz="1001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≈ 1.0</a:t>
            </a:r>
            <a:endParaRPr b="0" i="0" sz="10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5231988" y="2909841"/>
            <a:ext cx="3231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325" lIns="108500" spcFirstLastPara="1" rIns="108500" wrap="square" tIns="72325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1"/>
              <a:buFont typeface="Merriweather"/>
              <a:buNone/>
            </a:pPr>
            <a:r>
              <a:rPr b="0" i="0" lang="en" sz="1001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Acceptable accuracy</a:t>
            </a:r>
            <a:endParaRPr b="0" i="0" sz="10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265957" y="3163207"/>
            <a:ext cx="9813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1"/>
              <a:buFont typeface="Merriweather"/>
              <a:buNone/>
            </a:pPr>
            <a:r>
              <a:rPr b="0" i="0" lang="en" sz="1001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Utility-focused</a:t>
            </a:r>
            <a:endParaRPr b="0" i="0" sz="10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3472809" y="3094951"/>
            <a:ext cx="13341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325" lIns="108500" spcFirstLastPara="1" rIns="108500" wrap="square" tIns="72325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1"/>
              <a:buFont typeface="Merriweather"/>
              <a:buNone/>
            </a:pPr>
            <a:r>
              <a:rPr b="0" i="0" lang="en" sz="1001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≥ 2.0</a:t>
            </a:r>
            <a:endParaRPr b="0" i="0" sz="10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5231988" y="3224439"/>
            <a:ext cx="3231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325" lIns="108500" spcFirstLastPara="1" rIns="108500" wrap="square" tIns="72325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1"/>
              <a:buFont typeface="Merriweather"/>
              <a:buNone/>
            </a:pPr>
            <a:r>
              <a:rPr b="0" i="0" lang="en" sz="1001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Good accuracy, weaker privacy</a:t>
            </a:r>
            <a:endParaRPr b="0" i="0" sz="10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291575" y="3944430"/>
            <a:ext cx="8083200" cy="692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7175" lIns="97175" spcFirstLastPara="1" rIns="97175" wrap="square" tIns="97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291575" y="3944430"/>
            <a:ext cx="60900" cy="692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7175" lIns="97175" spcFirstLastPara="1" rIns="97175" wrap="square" tIns="97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382682" y="4035537"/>
            <a:ext cx="79011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85"/>
              <a:buFont typeface="Inter"/>
              <a:buNone/>
            </a:pPr>
            <a:r>
              <a:rPr b="1" i="0" lang="en" sz="1484" u="none" cap="none" strike="noStrike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Strong privacy</a:t>
            </a:r>
            <a:r>
              <a:rPr b="1" i="0" lang="en" sz="14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⇒ poor accuracy • </a:t>
            </a:r>
            <a:r>
              <a:rPr b="1" i="0" lang="en" sz="1484" u="none" cap="none" strike="noStrike">
                <a:solidFill>
                  <a:srgbClr val="457B9D"/>
                </a:solidFill>
                <a:latin typeface="Inter"/>
                <a:ea typeface="Inter"/>
                <a:cs typeface="Inter"/>
                <a:sym typeface="Inter"/>
              </a:rPr>
              <a:t>Weak privacy</a:t>
            </a:r>
            <a:r>
              <a:rPr b="1" i="0" lang="en" sz="14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⇒ better accuracy </a:t>
            </a:r>
            <a:endParaRPr b="1" sz="1484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85"/>
              <a:buFont typeface="Inter"/>
              <a:buNone/>
            </a:pPr>
            <a:r>
              <a:rPr b="1" i="0" lang="en" sz="14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tradeoff is unavoidable.</a:t>
            </a:r>
            <a:endParaRPr b="0" i="0" sz="14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21"/>
          <p:cNvCxnSpPr/>
          <p:nvPr/>
        </p:nvCxnSpPr>
        <p:spPr>
          <a:xfrm flipH="1" rot="10800000">
            <a:off x="276450" y="749962"/>
            <a:ext cx="8591100" cy="8400"/>
          </a:xfrm>
          <a:prstGeom prst="straightConnector1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/>
          <p:nvPr/>
        </p:nvSpPr>
        <p:spPr>
          <a:xfrm>
            <a:off x="250750" y="369375"/>
            <a:ext cx="828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5"/>
              <a:buFont typeface="Inter"/>
              <a:buNone/>
            </a:pPr>
            <a:r>
              <a:rPr b="1" lang="en" sz="170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Conclusion and Final Takeaways</a:t>
            </a:r>
            <a:endParaRPr b="0" i="0" sz="170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273450" y="1005431"/>
            <a:ext cx="2724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766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228"/>
              <a:buFont typeface="Inter"/>
              <a:buNone/>
            </a:pPr>
            <a:r>
              <a:rPr b="1" i="0" lang="en" sz="1228" u="none" cap="none" strike="noStrike">
                <a:solidFill>
                  <a:srgbClr val="457B9D"/>
                </a:solidFill>
                <a:latin typeface="Inter"/>
                <a:ea typeface="Inter"/>
                <a:cs typeface="Inter"/>
                <a:sym typeface="Inter"/>
              </a:rPr>
              <a:t>WHAT WE DEMONSTRATED</a:t>
            </a:r>
            <a:endParaRPr b="0" i="0" sz="12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3030139" y="966668"/>
            <a:ext cx="2724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766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228"/>
              <a:buFont typeface="Inter"/>
              <a:buNone/>
            </a:pPr>
            <a:r>
              <a:rPr b="1" i="0" lang="en" sz="1228" u="none" cap="none" strike="noStrike">
                <a:solidFill>
                  <a:srgbClr val="457B9D"/>
                </a:solidFill>
                <a:latin typeface="Inter"/>
                <a:ea typeface="Inter"/>
                <a:cs typeface="Inter"/>
                <a:sym typeface="Inter"/>
              </a:rPr>
              <a:t>CHALLENGES ENCOUNTERED</a:t>
            </a:r>
            <a:endParaRPr b="0" i="0" sz="12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170950" y="1319925"/>
            <a:ext cx="2724600" cy="2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1625" spcFirstLastPara="1" rIns="0" wrap="square" tIns="0">
            <a:noAutofit/>
          </a:bodyPr>
          <a:lstStyle/>
          <a:p>
            <a:pPr indent="-296006" lvl="0" marL="45720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62"/>
              <a:buFont typeface="Merriweather"/>
              <a:buChar char="●"/>
            </a:pPr>
            <a:r>
              <a:rPr lang="en" sz="1061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Differential privacy provides a formal privacy guarantee</a:t>
            </a:r>
            <a:endParaRPr sz="1061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6006" lvl="0" marL="45720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62"/>
              <a:buFont typeface="Merriweather"/>
              <a:buChar char="●"/>
            </a:pPr>
            <a:r>
              <a:rPr lang="en" sz="1061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Laplace outperformed Gaussian on all tested queries</a:t>
            </a:r>
            <a:endParaRPr sz="1061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6006" lvl="0" marL="45720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62"/>
              <a:buFont typeface="Merriweather"/>
              <a:buChar char="●"/>
            </a:pPr>
            <a:r>
              <a:rPr lang="en" sz="1061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Higher 𝜀 consistently improved utility</a:t>
            </a:r>
            <a:endParaRPr sz="1061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6006" lvl="0" marL="45720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62"/>
              <a:buFont typeface="Merriweather"/>
              <a:buChar char="●"/>
            </a:pPr>
            <a:r>
              <a:rPr lang="en" sz="1061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The privacy–utility tradeoff was visible in count, mean, and histogram queries</a:t>
            </a:r>
            <a:endParaRPr sz="1061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2895550" y="1300672"/>
            <a:ext cx="27246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1625" spcFirstLastPara="1" rIns="0" wrap="square" tIns="0">
            <a:noAutofit/>
          </a:bodyPr>
          <a:lstStyle/>
          <a:p>
            <a:pPr indent="-296006" lvl="0" marL="45720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62"/>
              <a:buFont typeface="Merriweather"/>
              <a:buChar char="●"/>
            </a:pPr>
            <a:r>
              <a:rPr lang="en" sz="1061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Choosing appropriate sensitivity bounds</a:t>
            </a:r>
            <a:endParaRPr sz="1061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6006" lvl="0" marL="45720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62"/>
              <a:buFont typeface="Merriweather"/>
              <a:buChar char="●"/>
            </a:pPr>
            <a:r>
              <a:rPr lang="en" sz="1061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Very small ε values can make outputs much less useful</a:t>
            </a:r>
            <a:endParaRPr sz="1061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6006" lvl="0" marL="45720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62"/>
              <a:buFont typeface="Merriweather"/>
              <a:buChar char="●"/>
            </a:pPr>
            <a:r>
              <a:rPr lang="en" sz="1061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Gaussian calibration depends on both ε and δ</a:t>
            </a:r>
            <a:endParaRPr sz="1061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62"/>
              <a:buFont typeface="Merriweather"/>
              <a:buNone/>
            </a:pPr>
            <a:r>
              <a:t/>
            </a:r>
            <a:endParaRPr sz="1061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5947883" y="966681"/>
            <a:ext cx="2724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766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228"/>
              <a:buFont typeface="Inter"/>
              <a:buNone/>
            </a:pPr>
            <a:r>
              <a:rPr b="1" i="0" lang="en" sz="1228" u="none" cap="none" strike="noStrike">
                <a:solidFill>
                  <a:srgbClr val="457B9D"/>
                </a:solidFill>
                <a:latin typeface="Inter"/>
                <a:ea typeface="Inter"/>
                <a:cs typeface="Inter"/>
                <a:sym typeface="Inter"/>
              </a:rPr>
              <a:t>FUTURE WORK</a:t>
            </a:r>
            <a:endParaRPr b="0" i="0" sz="12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5754750" y="1291800"/>
            <a:ext cx="3065400" cy="25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1625" spcFirstLastPara="1" rIns="0" wrap="square" tIns="0">
            <a:noAutofit/>
          </a:bodyPr>
          <a:lstStyle/>
          <a:p>
            <a:pPr indent="-296006" lvl="0" marL="45720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62"/>
              <a:buFont typeface="Merriweather"/>
              <a:buChar char="●"/>
            </a:pPr>
            <a:r>
              <a:rPr lang="en" sz="1061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Test additional query types beyond count, mean, and histogram</a:t>
            </a:r>
            <a:endParaRPr sz="1061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6006" lvl="0" marL="45720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62"/>
              <a:buFont typeface="Merriweather"/>
              <a:buChar char="●"/>
            </a:pPr>
            <a:r>
              <a:rPr lang="en" sz="1061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Explore alternative Gaussian calibrations and tighter privacy accounting</a:t>
            </a:r>
            <a:br>
              <a:rPr lang="en" sz="1061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" sz="1061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Study repeated-query composition in more detail</a:t>
            </a:r>
            <a:endParaRPr sz="1061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6006" lvl="0" marL="45720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62"/>
              <a:buFont typeface="Merriweather"/>
              <a:buChar char="●"/>
            </a:pPr>
            <a:r>
              <a:rPr lang="en" sz="1061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Extend the comparison to differentially private machine learning tasks</a:t>
            </a:r>
            <a:endParaRPr sz="1061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62"/>
              <a:buFont typeface="Merriweather"/>
              <a:buNone/>
            </a:pPr>
            <a:r>
              <a:t/>
            </a:r>
            <a:endParaRPr sz="1061">
              <a:solidFill>
                <a:srgbClr val="3333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250750" y="3828375"/>
            <a:ext cx="8560200" cy="9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3025" lIns="103025" spcFirstLastPara="1" rIns="103025" wrap="square" tIns="103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231304" y="3828375"/>
            <a:ext cx="80400" cy="9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103025" lIns="103025" spcFirstLastPara="1" rIns="103025" wrap="square" tIns="103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411753" y="3924976"/>
            <a:ext cx="82380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12"/>
              <a:buFont typeface="Inter"/>
              <a:buNone/>
            </a:pPr>
            <a:r>
              <a:rPr b="1" i="0" lang="en" sz="1112" u="none" cap="none" strike="noStrike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FINAL TAKEAWAY</a:t>
            </a:r>
            <a:endParaRPr b="0" i="0" sz="111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411753" y="4168492"/>
            <a:ext cx="823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99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59"/>
              <a:buFont typeface="Inter"/>
              <a:buNone/>
            </a:pPr>
            <a:r>
              <a:rPr b="1" lang="en" sz="1459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Differential privacy is powerful, but it comes at a cost in utility. The key challenge is choosing the right balance between privacy and accuracy.</a:t>
            </a:r>
            <a:endParaRPr b="0" i="0" sz="14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22"/>
          <p:cNvCxnSpPr/>
          <p:nvPr/>
        </p:nvCxnSpPr>
        <p:spPr>
          <a:xfrm flipH="1" rot="10800000">
            <a:off x="170950" y="767600"/>
            <a:ext cx="8591100" cy="8400"/>
          </a:xfrm>
          <a:prstGeom prst="straightConnector1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"/>
          <p:cNvSpPr/>
          <p:nvPr/>
        </p:nvSpPr>
        <p:spPr>
          <a:xfrm>
            <a:off x="250750" y="428380"/>
            <a:ext cx="828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5"/>
              <a:buFont typeface="Inter"/>
              <a:buNone/>
            </a:pPr>
            <a:r>
              <a:rPr b="1" lang="en" sz="170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References</a:t>
            </a:r>
            <a:endParaRPr b="0" i="0" sz="170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23"/>
          <p:cNvCxnSpPr/>
          <p:nvPr/>
        </p:nvCxnSpPr>
        <p:spPr>
          <a:xfrm flipH="1" rot="10800000">
            <a:off x="170950" y="826605"/>
            <a:ext cx="8591100" cy="8400"/>
          </a:xfrm>
          <a:prstGeom prst="straightConnector1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23"/>
          <p:cNvSpPr txBox="1"/>
          <p:nvPr/>
        </p:nvSpPr>
        <p:spPr>
          <a:xfrm>
            <a:off x="363125" y="904125"/>
            <a:ext cx="8398800" cy="41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C. Dwork, F. McSherry, K. Nissim, and A. Smith, “Calibrating noise to sensitivity in private data analysis,” in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Theory of Cryptography (TCC 2006)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2006, pp. 265–284.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 Nissim, S. Raskhodnikova, and A. Smith, “Smooth sensitivity and sampling in private data analysis,” in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Proceedings of the ACM Symposium on Theory of Computing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2007, pp. 75–84.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B. Balle and Y.-X. Wang, “Improving the Gaussian mechanism for differential privacy: Analytical calibration and optimal denoising,” in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Proceedings of the 35th International Conference on Machine Learning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2018.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I. Mironov, “Rényi differential privacy,” in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Proceedings of the IEEE 30th Computer Security Foundations Symposium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2017, pp. 263–275.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J. Near, D. Darais, N. Lefkovitz, and G. Howarth,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Guidelines for Evaluating Differential Privacy Guarantees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NIST Special Publication 800-226, 2025.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OpenDP, “A framework to understand DP,” OpenDP Documentation.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Google, “Google’s differential privacy libraries,” GitHub repository.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S. Haney, D. Desfontaines, L. Hartman, R. Shrestha, and M. Hay, “Precision-based attacks and interval refining: how to break, then fix, differential privacy on finite computers,” arXiv:2207.13793, 2022.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UCI Machine Learning Repository, “Adult Data Set.”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"/>
          <p:cNvSpPr txBox="1"/>
          <p:nvPr/>
        </p:nvSpPr>
        <p:spPr>
          <a:xfrm>
            <a:off x="2790300" y="1865355"/>
            <a:ext cx="35634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8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59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sz="305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 txBox="1"/>
          <p:nvPr/>
        </p:nvSpPr>
        <p:spPr>
          <a:xfrm>
            <a:off x="3608850" y="2622638"/>
            <a:ext cx="19263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8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9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Any Questions? </a:t>
            </a:r>
            <a:endParaRPr sz="145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24"/>
          <p:cNvCxnSpPr/>
          <p:nvPr/>
        </p:nvCxnSpPr>
        <p:spPr>
          <a:xfrm flipH="1" rot="10800000">
            <a:off x="2583750" y="2562600"/>
            <a:ext cx="3976500" cy="18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